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Meridian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9A825"/>
                </a:solidFill>
                <a:latin typeface="Calibri"/>
              </a:rPr>
              <a:t>Market Expansion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EAF6"/>
                </a:solidFill>
                <a:latin typeface="Calibri"/>
              </a:rPr>
              <a:t>Which Two Markets Should We Enter First?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904" y="2971800"/>
            <a:ext cx="1828800" cy="25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F6"/>
                </a:solidFill>
                <a:latin typeface="Calibri"/>
              </a:rPr>
              <a:t>Prepared by Balraj Kooner | Masters in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EAF6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8EAF6"/>
                </a:solidFill>
                <a:latin typeface="Calibri"/>
              </a:defRPr>
            </a:pPr>
            <a:r>
              <a:t>•  Meridian Home operates 47 stores concentrated in the Northeast and West Coast, with ~$890M in annual revenue and strong brand recognition in the premium home goods segment</a:t>
            </a:r>
          </a:p>
          <a:p>
            <a:pPr>
              <a:spcAft>
                <a:spcPts val="1400"/>
              </a:spcAft>
              <a:defRPr sz="1800">
                <a:solidFill>
                  <a:srgbClr val="E8EAF6"/>
                </a:solidFill>
                <a:latin typeface="Calibri"/>
              </a:defRPr>
            </a:pPr>
            <a:r>
              <a:t>•  The board has approved expansion into 2 new markets, targeting metros with strong homeowner demographics and limited premium competition</a:t>
            </a:r>
          </a:p>
          <a:p>
            <a:pPr>
              <a:spcAft>
                <a:spcPts val="1400"/>
              </a:spcAft>
              <a:defRPr sz="1800">
                <a:solidFill>
                  <a:srgbClr val="E8EAF6"/>
                </a:solidFill>
                <a:latin typeface="Calibri"/>
              </a:defRPr>
            </a:pPr>
            <a:r>
              <a:t>•  Five candidate metros were identified across three growth regions: Sun Belt (Nashville, Austin, Charlotte), Mountain West (Denver), Midwest (Indianapolis)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8EAF6"/>
                </a:solidFill>
                <a:latin typeface="Calibri"/>
              </a:defRPr>
            </a:pPr>
            <a:r>
              <a:t>•  Not all five markets offer equivalent returns — market attractiveness, competitive density, and unit economics vary significantly across the candidates</a:t>
            </a:r>
          </a:p>
          <a:p>
            <a:pPr>
              <a:spcAft>
                <a:spcPts val="1400"/>
              </a:spcAft>
              <a:defRPr sz="1800">
                <a:solidFill>
                  <a:srgbClr val="E8EAF6"/>
                </a:solidFill>
                <a:latin typeface="Calibri"/>
              </a:defRPr>
            </a:pPr>
            <a:r>
              <a:t>•  Entering the wrong market carries substantial risk: $450K pre-opening investment per store, multi-year lease commitments, and reputational risk of a poorly-performing flagship in a new region</a:t>
            </a:r>
          </a:p>
          <a:p>
            <a:pPr>
              <a:spcAft>
                <a:spcPts val="1400"/>
              </a:spcAft>
              <a:defRPr sz="1800">
                <a:solidFill>
                  <a:srgbClr val="E8EAF6"/>
                </a:solidFill>
                <a:latin typeface="Calibri"/>
              </a:defRPr>
            </a:pPr>
            <a:r>
              <a:t>•  A rigorous, data-driven framework is needed to identify the markets with the highest probability of success across 7 weighted dimensions — and to be honest about where the unit economics are still marginal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Our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Enter Charlotte first (Q1 2026); open a single Indianapolis pilot store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8EAF6"/>
                </a:solidFill>
                <a:latin typeface="Calibri"/>
              </a:defRPr>
            </a:pPr>
            <a:r>
              <a:t>•  Indianapolis ranks #1 on market attractiveness (composite 4.25/5.0) — cheapest lease rate ($22.20/sqft) and lowest competitive density of any candidate — but slower population growth (4.9%/5yr) means its financial case needs more runway to prove out than our 3-year model window</a:t>
            </a:r>
          </a:p>
          <a:p>
            <a:pPr>
              <a:spcAft>
                <a:spcPts val="1400"/>
              </a:spcAft>
              <a:defRPr sz="1700">
                <a:solidFill>
                  <a:srgbClr val="E8EAF6"/>
                </a:solidFill>
                <a:latin typeface="Calibri"/>
              </a:defRPr>
            </a:pPr>
            <a:r>
              <a:t>•  Charlotte ranks #2 (composite 4.08/5.0), sits at Meridian's own East Coast distribution hub (zero logistics cost), and is the only recommended market that clears payback within the model horizon (~31 months)</a:t>
            </a:r>
          </a:p>
          <a:p>
            <a:pPr>
              <a:spcAft>
                <a:spcPts val="1400"/>
              </a:spcAft>
              <a:defRPr sz="1700">
                <a:solidFill>
                  <a:srgbClr val="E8EAF6"/>
                </a:solidFill>
                <a:latin typeface="Calibri"/>
              </a:defRPr>
            </a:pPr>
            <a:r>
              <a:t>•  Combined risk-adjusted 3-year NPV is currently negative (-$695,888) at the standard 4,500 sqft / 10-FTE format — this is a real constraint, not a rounding error, and the phased approach below is how we manage that risk</a:t>
            </a:r>
          </a:p>
          <a:p>
            <a:pPr>
              <a:spcAft>
                <a:spcPts val="1400"/>
              </a:spcAft>
              <a:defRPr sz="1700">
                <a:solidFill>
                  <a:srgbClr val="E8EAF6"/>
                </a:solidFill>
                <a:latin typeface="Calibri"/>
              </a:defRPr>
            </a:pPr>
            <a:r>
              <a:t>•  Recommended sequencing: open Charlotte's 2-store cluster now; open 1 Indianapolis pilot store (not 2) to validate real-world performance before committing the second store there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Analytical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A825"/>
                </a:solidFill>
                <a:latin typeface="Calibri"/>
              </a:rPr>
              <a:t>Issue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8EAF6"/>
                </a:solidFill>
                <a:latin typeface="Calibri"/>
              </a:defRPr>
            </a:pPr>
            <a:r>
              <a:t>•  Is the market attractive? (size, income, housing, e-commerce penetration)</a:t>
            </a:r>
          </a:p>
          <a:p>
            <a:pPr>
              <a:spcAft>
                <a:spcPts val="1400"/>
              </a:spcAft>
              <a:defRPr sz="1500">
                <a:solidFill>
                  <a:srgbClr val="E8EAF6"/>
                </a:solidFill>
                <a:latin typeface="Calibri"/>
              </a:defRPr>
            </a:pPr>
            <a:r>
              <a:t>•  Can Meridian compete effectively? (saturation, cannibalization, logistics)</a:t>
            </a:r>
          </a:p>
          <a:p>
            <a:pPr>
              <a:spcAft>
                <a:spcPts val="1400"/>
              </a:spcAft>
              <a:defRPr sz="1500">
                <a:solidFill>
                  <a:srgbClr val="E8EAF6"/>
                </a:solidFill>
                <a:latin typeface="Calibri"/>
              </a:defRPr>
            </a:pPr>
            <a:r>
              <a:t>•  What is the financial return? (revenue, cost, breakeven, NPV)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A825"/>
                </a:solidFill>
                <a:latin typeface="Calibri"/>
              </a:rPr>
              <a:t>7 Evaluation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Population &amp;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Income &amp; Furnishing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43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Homeownership &amp; Housing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Competitive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Retail Lease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14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Labor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F6"/>
                </a:solidFill>
                <a:latin typeface="Calibri"/>
              </a:rPr>
              <a:t>Logistics Proximity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9A825"/>
                </a:solidFill>
                <a:latin typeface="Calibri"/>
              </a:rPr>
              <a:t>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Market Attractiveness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osit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75" y="1371600"/>
            <a:ext cx="998537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6"/>
                </a:solidFill>
                <a:latin typeface="Calibri"/>
              </a:rPr>
              <a:t>Source: US Census ACS, BLS OES/CEX, Zillow Research, NAHB, CommercialCafe — analysis by Balraj Kooner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Competitive Saturation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mpetitiv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106" y="1371600"/>
            <a:ext cx="7765307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A825"/>
                </a:solidFill>
                <a:latin typeface="Calibri"/>
              </a:rPr>
              <a:t>Indianapolis and Austin show the lowest direct competitor density (~0.21-0.24 per 100k population) — Charlotte offers a reasonable balance of growth and moderate competition (0.29 per 100k)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3-Year Financial Projection — Recommended Markets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nancial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91" y="1280160"/>
            <a:ext cx="760233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AF6"/>
                </a:solidFill>
                <a:latin typeface="Calibri"/>
              </a:rPr>
              <a:t>Combined Year 3 EBITDA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A825"/>
                </a:solidFill>
                <a:latin typeface="Calibri"/>
              </a:rPr>
              <a:t>$1,063,905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AF6"/>
                </a:solidFill>
                <a:latin typeface="Calibri"/>
              </a:rPr>
              <a:t>Charlotte Payback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852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A825"/>
                </a:solidFill>
                <a:latin typeface="Calibri"/>
              </a:rPr>
              <a:t>31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EAF6"/>
                </a:solidFill>
                <a:latin typeface="Calibri"/>
              </a:rPr>
              <a:t>Combined Risk-Adj. NPV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852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A825"/>
                </a:solidFill>
                <a:latin typeface="Calibri"/>
              </a:rPr>
              <a:t>-$695,888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Risks and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25"/>
                </a:solidFill>
                <a:latin typeface="Calibri"/>
              </a:rPr>
              <a:t>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Combined NPV is negative at the modeled 4,500 sqft / 10-FTE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92024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Phase Indianapolis as a single pilot store; revisit store format (sqft, staffing) before the second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Competitive response from West Elm or Pottery Barn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9184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918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Pre-commit to Charlotte's 2-store cluster to establish critical mass before competitors 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Ramp-up slower than modeled (consumer awareness 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66344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663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AF6"/>
                </a:solidFill>
                <a:latin typeface="Calibri"/>
              </a:rPr>
              <a:t>Year 1 budget includes incremental local marketing spend beyond the 3%-of-revenue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18-Month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1-2: Market validation (real estate broker engagement, trade area confirmation) — both markets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2-4: Charlotte site selection and LOI negotiation (2-store cluster)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4-6: Charlotte lease execution and buildout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6: Charlotte stores open — Q1 2026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6-8: Indianapolis single-store site selection and LOI (pilot format)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8-10: Indianapolis pilot buildout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10: Indianapolis pilot store opens</a:t>
            </a:r>
          </a:p>
          <a:p>
            <a:pPr>
              <a:spcAft>
                <a:spcPts val="1400"/>
              </a:spcAft>
              <a:defRPr sz="1600">
                <a:solidFill>
                  <a:srgbClr val="E8EAF6"/>
                </a:solidFill>
                <a:latin typeface="Calibri"/>
              </a:defRPr>
            </a:pPr>
            <a:r>
              <a:t>•  Month 10-18: Performance monitoring against model; go/no-go decision on Indianapolis store #2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